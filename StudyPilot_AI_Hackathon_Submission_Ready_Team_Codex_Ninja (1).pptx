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23"/>
    <p:sldId id="269" r:id="rId15"/>
    <p:sldId id="270" r:id="rId16"/>
    <p:sldId id="271" r:id="rId17"/>
    <p:sldId id="273" r:id="rId24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4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StudyPilot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869680" y="0"/>
            <a:ext cx="3291840" cy="3291840"/>
          </a:xfrm>
          <a:prstGeom prst="ellipse">
            <a:avLst/>
          </a:prstGeom>
          <a:solidFill>
            <a:srgbClr val="5B5CE2">
              <a:alpha val="82000"/>
            </a:srgbClr>
          </a:solidFill>
          <a:ln w="12700">
            <a:solidFill>
              <a:srgbClr val="5B5CE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875520" y="3931920"/>
            <a:ext cx="2286000" cy="2286000"/>
          </a:xfrm>
          <a:prstGeom prst="ellipse">
            <a:avLst/>
          </a:prstGeom>
          <a:solidFill>
            <a:srgbClr val="16B5D1">
              <a:alpha val="55000"/>
            </a:srgbClr>
          </a:solidFill>
          <a:ln w="12700">
            <a:solidFill>
              <a:srgbClr val="16B5D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8368" y="658368"/>
            <a:ext cx="1417320" cy="310896"/>
          </a:xfrm>
          <a:prstGeom prst="round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70866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PROJECT REPORT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StudyPilot AI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76656" y="22585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DDF0"/>
                </a:solidFill>
              </a:rPr>
              <a:t>Personalized AI Study &amp; Revision Assistant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6656" y="2971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AB5CC"/>
                </a:solidFill>
              </a:rPr>
              <a:t>A student-first platform that turns uploaded notes into summaries, questions, quizzes, revision plans and contextual AI assistance.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76656" y="513892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Team Codex Ninja</a:t>
            </a:r>
          </a:p>
          <a:p>
            <a:r>
              <a:t>S. Sathvik Raj · Maneesh · Jayanth</a:t>
            </a:r>
          </a:p>
          <a:p>
            <a:r>
              <a:t>B.Tech CSE · GITAM Hyderabad · 2026</a:t>
            </a:r>
          </a:p>
        </p:txBody>
      </p:sp>
      <p:sp>
        <p:nvSpPr>
          <p:cNvPr id="11" name="Text 9"/>
          <p:cNvSpPr/>
          <p:nvPr/>
        </p:nvSpPr>
        <p:spPr>
          <a:xfrm>
            <a:off x="7818120" y="5806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IBM SkillsBuild Hackathon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What StudyPilot AI solves and why it matters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OVERVIEW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2240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572768"/>
            <a:ext cx="73152" cy="1188720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8013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3A"/>
                </a:solidFill>
              </a:rPr>
              <a:t>1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3225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Study + revision workflow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90672" y="1572768"/>
            <a:ext cx="2240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090672" y="1572768"/>
            <a:ext cx="73152" cy="1188720"/>
          </a:xfrm>
          <a:prstGeom prst="rect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46704" y="18013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3A"/>
                </a:solidFill>
              </a:rPr>
              <a:t>5+ Inputs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46704" y="23225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PDF, DOCX, PPTX, TXT, images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22976" y="1572768"/>
            <a:ext cx="2240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522976" y="1572768"/>
            <a:ext cx="73152" cy="1188720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779008" y="18013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3A"/>
                </a:solidFill>
              </a:rPr>
              <a:t>AI-native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79008" y="23225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Summary, quiz, Q&amp;A, plans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1572768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955280" y="1572768"/>
            <a:ext cx="73152" cy="1188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11312" y="18013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3A"/>
                </a:solidFill>
              </a:rPr>
              <a:t>Student-first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11312" y="23225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Fast, focused, contextual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3154680"/>
            <a:ext cx="10314432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41832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B3A"/>
                </a:solidFill>
              </a:rPr>
              <a:t>Core idea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2688" y="3886200"/>
            <a:ext cx="95554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E2B3A"/>
                </a:solidFill>
              </a:rPr>
              <a:t>Students often spend more time organizing notes than actually revising them.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E2B3A"/>
                </a:solidFill>
              </a:rPr>
              <a:t>StudyPilot converts personal study material into actionable learning outputs in one place.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E2B3A"/>
                </a:solidFill>
              </a:rPr>
              <a:t>The system preserves user context through per-user storage, source-linked AI outputs and Ask My Notes.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E2B3A"/>
                </a:solidFill>
              </a:rPr>
              <a:t>The current MVP is functional; production hardening, RAG citations, quotas and deeper testing are the next focus.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Students have content everywhere, but revision is still manual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E65B65"/>
          </a:solidFill>
          <a:ln w="12700">
            <a:solidFill>
              <a:srgbClr val="E65B6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PROBLEM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2542032" cy="33375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9536" y="1828800"/>
            <a:ext cx="512064" cy="512064"/>
          </a:xfrm>
          <a:prstGeom prst="ellipse">
            <a:avLst/>
          </a:prstGeom>
          <a:solidFill>
            <a:srgbClr val="E65B65"/>
          </a:solidFill>
          <a:ln w="12700">
            <a:solidFill>
              <a:srgbClr val="E65B6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9536" y="19019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A"/>
                </a:solidFill>
              </a:rPr>
              <a:t>Scattered material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9536" y="321868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PDFs, slides, screenshots and notes stay disconnected.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542032" cy="33375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30168" y="1828800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30168" y="19019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0168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A"/>
                </a:solidFill>
              </a:rPr>
              <a:t>Passive reading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0168" y="321868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Students reread instead of actively recalling.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99632" y="1600200"/>
            <a:ext cx="2542032" cy="33375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512064" cy="512064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0" y="19019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A"/>
                </a:solidFill>
              </a:rPr>
              <a:t>No context-aware help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321868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Generic chatbots do not know the student’s own notes.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70264" y="1600200"/>
            <a:ext cx="2542032" cy="33375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71432" y="1828800"/>
            <a:ext cx="512064" cy="512064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71432" y="19019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71432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3A"/>
                </a:solidFill>
              </a:rPr>
              <a:t>Revision overload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71432" y="321868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Exam preparation becomes last-minute and unstructured.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3000" y="5532120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5CE2"/>
                </a:solidFill>
              </a:rPr>
              <a:t>Design goal: reduce the friction between “I have notes” and “I am ready for the exam.”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Proposed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One workflow from upload → understanding → practice → revision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SOLUTION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1288" y="1645920"/>
            <a:ext cx="713232" cy="713232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61288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B3A"/>
                </a:solidFill>
              </a:rPr>
              <a:t>Upload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Notes, PDFs, PPTX, DOCX, images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31720" y="1874520"/>
            <a:ext cx="484632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29000" y="1645920"/>
            <a:ext cx="713232" cy="713232"/>
          </a:xfrm>
          <a:prstGeom prst="ellipse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29000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07792" y="25786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B3A"/>
                </a:solidFill>
              </a:rPr>
              <a:t>Extract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16352" y="30632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Text + metadata processing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99432" y="1874520"/>
            <a:ext cx="484632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96712" y="1645920"/>
            <a:ext cx="713232" cy="713232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96712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75504" y="25786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B3A"/>
                </a:solidFill>
              </a:rPr>
              <a:t>Generate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84064" y="30632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Summary, key points, questions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67144" y="1874520"/>
            <a:ext cx="484632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64424" y="1645920"/>
            <a:ext cx="713232" cy="713232"/>
          </a:xfrm>
          <a:prstGeom prst="ellipse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64424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43216" y="25786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B3A"/>
                </a:solidFill>
              </a:rPr>
              <a:t>Practice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51776" y="30632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MCQ quiz + Ask My Notes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34856" y="1874520"/>
            <a:ext cx="484632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232136" y="1645920"/>
            <a:ext cx="713232" cy="713232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232136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10928" y="25786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B3A"/>
                </a:solidFill>
              </a:rPr>
              <a:t>Revise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619488" y="30632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Personalized revision plan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33272" y="4617720"/>
            <a:ext cx="9418320" cy="932688"/>
          </a:xfrm>
          <a:prstGeom prst="roundRect">
            <a:avLst>
              <a:gd name="adj" fmla="val 11765"/>
            </a:avLst>
          </a:prstGeom>
          <a:solidFill>
            <a:srgbClr val="EEF0FF"/>
          </a:solidFill>
          <a:ln w="12700">
            <a:solidFill>
              <a:srgbClr val="D9DB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325880" y="4892040"/>
            <a:ext cx="8823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B5CE2"/>
                </a:solidFill>
              </a:rPr>
              <a:t>Outcome: a repeatable learning loop that is grounded in the student’s own material instead of generic internet answers.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Project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MVP is designed around practical student outcomes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481328"/>
            <a:ext cx="50749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77824" y="1664208"/>
            <a:ext cx="512064" cy="512064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" y="17373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17904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Automate note understanding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17904" y="2039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Turn uploaded learning material into concise summaries and key points.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1481328"/>
            <a:ext cx="50749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9944" y="1664208"/>
            <a:ext cx="512064" cy="512064"/>
          </a:xfrm>
          <a:prstGeom prst="ellipse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9944" y="17373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0024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Improve active recall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050024" y="2039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Generate important questions and MCQ quizzes from source content.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3008376"/>
            <a:ext cx="50749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77824" y="3191256"/>
            <a:ext cx="512064" cy="512064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77824" y="32644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17904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Enable contextual assistance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517904" y="35661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Let students ask questions directly against their uploaded notes.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5352" y="3008376"/>
            <a:ext cx="50749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9944" y="3191256"/>
            <a:ext cx="512064" cy="512064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9944" y="32644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50024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Structure revision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050024" y="35661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Create an actionable plan rather than a generic study schedule.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50749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77824" y="4718304"/>
            <a:ext cx="512064" cy="512064"/>
          </a:xfrm>
          <a:prstGeom prst="ellipse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77824" y="479145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17904" y="4700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Keep data separated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517904" y="50932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Store files and outputs per user with secure access controls.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45352" y="4535424"/>
            <a:ext cx="50749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9944" y="4718304"/>
            <a:ext cx="512064" cy="512064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9944" y="479145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50024" y="4700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Scale later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050024" y="50932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Design the stack so RAG, citations, folders, quotas and analytics can be added cleanly.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Key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Core capabilities currently implemented in the StudyPilot MVP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2633472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76656" y="1581912"/>
            <a:ext cx="512064" cy="512064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6656" y="165506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222199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E2B3A"/>
                </a:solidFill>
              </a:rPr>
              <a:t>Upload &amp; process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76656" y="263347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PDF, DOCX, PPTX, TXT/MD, images and ZIP-based study material.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64992" y="1417320"/>
            <a:ext cx="2633472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29584" y="1581912"/>
            <a:ext cx="512064" cy="512064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9584" y="165506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9584" y="222199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E2B3A"/>
                </a:solidFill>
              </a:rPr>
              <a:t>AI Summary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3529584" y="263347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Condensed explanation generated from extracted note content.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633472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82512" y="1581912"/>
            <a:ext cx="512064" cy="512064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165506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2512" y="222199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E2B3A"/>
                </a:solidFill>
              </a:rPr>
              <a:t>Key Points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6382512" y="263347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Exam-oriented highlights for quick revision.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070848" y="1417320"/>
            <a:ext cx="2633472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235440" y="1581912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235440" y="165506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35440" y="222199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E2B3A"/>
                </a:solidFill>
              </a:rPr>
              <a:t>Important Questions</a:t>
            </a:r>
            <a:endParaRPr lang="en-US" sz="1480" dirty="0"/>
          </a:p>
        </p:txBody>
      </p:sp>
      <p:sp>
        <p:nvSpPr>
          <p:cNvPr id="25" name="Text 23"/>
          <p:cNvSpPr/>
          <p:nvPr/>
        </p:nvSpPr>
        <p:spPr>
          <a:xfrm>
            <a:off x="9235440" y="263347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Likely practice questions derived from the notes.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12064" y="3657600"/>
            <a:ext cx="2633472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76656" y="3822192"/>
            <a:ext cx="512064" cy="512064"/>
          </a:xfrm>
          <a:prstGeom prst="ellipse">
            <a:avLst/>
          </a:prstGeom>
          <a:solidFill>
            <a:srgbClr val="E65B65"/>
          </a:solidFill>
          <a:ln w="12700">
            <a:solidFill>
              <a:srgbClr val="E65B6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6656" y="389534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" y="446227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E2B3A"/>
                </a:solidFill>
              </a:rPr>
              <a:t>MCQ Quiz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676656" y="487375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Auto-generated multiple-choice practice from uploaded content.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364992" y="3657600"/>
            <a:ext cx="2633472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529584" y="3822192"/>
            <a:ext cx="512064" cy="512064"/>
          </a:xfrm>
          <a:prstGeom prst="ellipse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529584" y="389534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29584" y="446227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E2B3A"/>
                </a:solidFill>
              </a:rPr>
              <a:t>Ask My Notes</a:t>
            </a:r>
            <a:endParaRPr lang="en-US" sz="1480" dirty="0"/>
          </a:p>
        </p:txBody>
      </p:sp>
      <p:sp>
        <p:nvSpPr>
          <p:cNvPr id="35" name="Text 33"/>
          <p:cNvSpPr/>
          <p:nvPr/>
        </p:nvSpPr>
        <p:spPr>
          <a:xfrm>
            <a:off x="3529584" y="487375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Contextual Q&amp;A with source chips and reusable answer cache.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217920" y="3657600"/>
            <a:ext cx="2633472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382512" y="3822192"/>
            <a:ext cx="512064" cy="512064"/>
          </a:xfrm>
          <a:prstGeom prst="ellipse">
            <a:avLst/>
          </a:prstGeom>
          <a:solidFill>
            <a:srgbClr val="7C6FF0"/>
          </a:solidFill>
          <a:ln w="12700">
            <a:solidFill>
              <a:srgbClr val="7C6F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82512" y="389534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2512" y="446227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E2B3A"/>
                </a:solidFill>
              </a:rPr>
              <a:t>Revision Plan</a:t>
            </a:r>
            <a:endParaRPr lang="en-US" sz="1480" dirty="0"/>
          </a:p>
        </p:txBody>
      </p:sp>
      <p:sp>
        <p:nvSpPr>
          <p:cNvPr id="40" name="Text 38"/>
          <p:cNvSpPr/>
          <p:nvPr/>
        </p:nvSpPr>
        <p:spPr>
          <a:xfrm>
            <a:off x="6382512" y="487375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Study/revision steps organized from the learning material.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9070848" y="3657600"/>
            <a:ext cx="2633472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235440" y="3822192"/>
            <a:ext cx="512064" cy="512064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235440" y="389534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35440" y="446227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E2B3A"/>
                </a:solidFill>
              </a:rPr>
              <a:t>Split View</a:t>
            </a:r>
            <a:endParaRPr lang="en-US" sz="1480" dirty="0"/>
          </a:p>
        </p:txBody>
      </p:sp>
      <p:sp>
        <p:nvSpPr>
          <p:cNvPr id="45" name="Text 43"/>
          <p:cNvSpPr/>
          <p:nvPr/>
        </p:nvSpPr>
        <p:spPr>
          <a:xfrm>
            <a:off x="9235440" y="487375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Study content and AI assistance visible side-by-side.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Modular web architecture with AI and cloud-backed user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1920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928" y="1874520"/>
            <a:ext cx="82296" cy="1170432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0939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Student UI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Next.js + React + Tailwind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79776" y="1874520"/>
            <a:ext cx="21031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79776" y="1874520"/>
            <a:ext cx="82296" cy="1170432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90088" y="20939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Application Layer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990088" y="25328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Next.js App Router + server logic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30368" y="1234440"/>
            <a:ext cx="23317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230368" y="1234440"/>
            <a:ext cx="82296" cy="117043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40680" y="14538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AI Layer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40680" y="1892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Gemini + prompt orchestration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30368" y="2788920"/>
            <a:ext cx="23317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230368" y="2788920"/>
            <a:ext cx="82296" cy="117043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40680" y="3008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Document Pipeline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440680" y="3447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pdfjs / pdf-parse / JSZip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73568" y="1234440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973568" y="1234440"/>
            <a:ext cx="82296" cy="1170432"/>
          </a:xfrm>
          <a:prstGeom prst="rect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83880" y="14538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Supabase Auth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183880" y="18928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Identity + protected sessions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73568" y="2788920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7C6FF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973568" y="2788920"/>
            <a:ext cx="82296" cy="1170432"/>
          </a:xfrm>
          <a:prstGeom prst="rect">
            <a:avLst/>
          </a:prstGeom>
          <a:solidFill>
            <a:srgbClr val="7C6FF0"/>
          </a:solidFill>
          <a:ln w="12700">
            <a:solidFill>
              <a:srgbClr val="7C6F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83880" y="30083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A"/>
                </a:solidFill>
              </a:rPr>
              <a:t>Supabase DB/Storage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183880" y="34472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Files, outputs, metadata, RLS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87168" y="2240280"/>
            <a:ext cx="292608" cy="256032"/>
          </a:xfrm>
          <a:prstGeom prst="chevron">
            <a:avLst/>
          </a:prstGeom>
          <a:solidFill>
            <a:srgbClr val="A8B2C3"/>
          </a:solidFill>
          <a:ln w="12700">
            <a:solidFill>
              <a:srgbClr val="A8B2C3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882896" y="1728216"/>
            <a:ext cx="329184" cy="256032"/>
          </a:xfrm>
          <a:prstGeom prst="chevron">
            <a:avLst/>
          </a:prstGeom>
          <a:solidFill>
            <a:srgbClr val="A8B2C3"/>
          </a:solidFill>
          <a:ln w="12700">
            <a:solidFill>
              <a:srgbClr val="A8B2C3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82896" y="3319272"/>
            <a:ext cx="329184" cy="256032"/>
          </a:xfrm>
          <a:prstGeom prst="chevron">
            <a:avLst/>
          </a:prstGeom>
          <a:solidFill>
            <a:srgbClr val="A8B2C3"/>
          </a:solidFill>
          <a:ln w="12700">
            <a:solidFill>
              <a:srgbClr val="A8B2C3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562088" y="1801368"/>
            <a:ext cx="411480" cy="256032"/>
          </a:xfrm>
          <a:prstGeom prst="chevron">
            <a:avLst/>
          </a:prstGeom>
          <a:solidFill>
            <a:srgbClr val="A8B2C3"/>
          </a:solidFill>
          <a:ln w="12700">
            <a:solidFill>
              <a:srgbClr val="A8B2C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562088" y="3355848"/>
            <a:ext cx="411480" cy="256032"/>
          </a:xfrm>
          <a:prstGeom prst="chevron">
            <a:avLst/>
          </a:prstGeom>
          <a:solidFill>
            <a:srgbClr val="A8B2C3"/>
          </a:solidFill>
          <a:ln w="12700">
            <a:solidFill>
              <a:srgbClr val="A8B2C3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920240" y="4800600"/>
            <a:ext cx="8183880" cy="777240"/>
          </a:xfrm>
          <a:prstGeom prst="roundRect">
            <a:avLst>
              <a:gd name="adj" fmla="val 14118"/>
            </a:avLst>
          </a:prstGeom>
          <a:solidFill>
            <a:srgbClr val="F1F5F9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240280" y="5056632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3A"/>
                </a:solidFill>
              </a:rPr>
              <a:t>Security boundary: authenticated users access only their own files and AI outputs through per-user data rules.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AI Processing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How uploaded content becomes reliable study assistance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PIPELINE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847088"/>
            <a:ext cx="1627632" cy="19659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2029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CE2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5146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Ingest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299923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Validate file type and upload.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2075688" y="2688336"/>
            <a:ext cx="228600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313432" y="1847088"/>
            <a:ext cx="1627632" cy="19659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68880" y="2029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B5D1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5146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Extract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299923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Parse text and metadata.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3977640" y="2688336"/>
            <a:ext cx="228600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15384" y="1847088"/>
            <a:ext cx="1627632" cy="19659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70832" y="2029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CE2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70832" y="25146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Normalize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70832" y="299923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Clean/prepare content for prompts.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879592" y="2688336"/>
            <a:ext cx="228600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17336" y="1847088"/>
            <a:ext cx="1627632" cy="19659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72784" y="2029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B5D1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25146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Generate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72784" y="299923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Produce summary, questions, quiz or plan.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7781544" y="2688336"/>
            <a:ext cx="228600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19288" y="1847088"/>
            <a:ext cx="1627632" cy="19659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74736" y="2029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CE2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4736" y="25146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Persist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74736" y="299923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Save outputs linked to user + file.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9683496" y="2688336"/>
            <a:ext cx="228600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921240" y="1847088"/>
            <a:ext cx="1627632" cy="19659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076688" y="2029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B5D1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76688" y="25146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Reuse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76688" y="299923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Serve cached/contextual answers in chat.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58368" y="4572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Reliability controls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" y="4983480"/>
            <a:ext cx="102870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1E2B3A"/>
                </a:solidFill>
              </a:rPr>
              <a:t>Retry/backoff for model failures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1E2B3A"/>
                </a:solidFill>
              </a:rPr>
              <a:t>Fallback handling during high demand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1E2B3A"/>
                </a:solidFill>
              </a:rPr>
              <a:t>Answer cache to avoid repeated calls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1E2B3A"/>
                </a:solidFill>
              </a:rPr>
              <a:t>Planned RAG + citations for stronger grounding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Data Model &amp; Security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Designed for per-user isolation and traceable AI outputs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E65B65"/>
          </a:solidFill>
          <a:ln w="12700">
            <a:solidFill>
              <a:srgbClr val="E65B6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SECURITY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015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481328"/>
            <a:ext cx="3401568" cy="50292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6184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2176272"/>
            <a:ext cx="2880360" cy="1700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id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user_id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original_file_name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file_type / mime_type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extracted_text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metadata / status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481328"/>
            <a:ext cx="34015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61688" y="1481328"/>
            <a:ext cx="3401568" cy="502920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16184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ai_outputs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2856" y="2176272"/>
            <a:ext cx="2880360" cy="1700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id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user_id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file_id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output_type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generated_content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created_at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9016" y="1481328"/>
            <a:ext cx="34015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29016" y="1481328"/>
            <a:ext cx="3401568" cy="502920"/>
          </a:xfrm>
          <a:prstGeom prst="rect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93608" y="16184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assistant_questions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0184" y="2176272"/>
            <a:ext cx="2880360" cy="1700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id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user_id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file_id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question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answer / cache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B3A"/>
                </a:solidFill>
              </a:rPr>
              <a:t>created_at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" y="4617720"/>
            <a:ext cx="10104120" cy="1005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 w="12700">
            <a:solidFill>
              <a:srgbClr val="F6D0D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7280" y="4937760"/>
            <a:ext cx="9464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2B36"/>
                </a:solidFill>
              </a:rPr>
              <a:t>Access model: Supabase Auth + per-user database rules (RLS) prevent one student from reading another student’s files or generated outputs.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Modern web stack selected for fast MVP delivery and future scalability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 STACK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523744" cy="37490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536192"/>
            <a:ext cx="2523744" cy="585216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7099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Frontend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59536" y="2441448"/>
            <a:ext cx="201168" cy="201168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70432" y="2350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Next.js App Router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59536" y="3054096"/>
            <a:ext cx="201168" cy="201168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70432" y="29626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React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59536" y="3666744"/>
            <a:ext cx="201168" cy="201168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70432" y="35753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TypeScript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59536" y="4279392"/>
            <a:ext cx="201168" cy="201168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70432" y="41879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Tailwind CSS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429000" y="1536192"/>
            <a:ext cx="2523744" cy="37490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429000" y="1536192"/>
            <a:ext cx="2523744" cy="585216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93592" y="17099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Backend / Data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648456" y="2441448"/>
            <a:ext cx="201168" cy="201168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959352" y="2350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Supabase Auth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3648456" y="3054096"/>
            <a:ext cx="201168" cy="201168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959352" y="29626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Supabase Postgres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3648456" y="3666744"/>
            <a:ext cx="201168" cy="201168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959352" y="35753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Supabase Storage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3648456" y="4279392"/>
            <a:ext cx="201168" cy="201168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959352" y="41879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Row Level Security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217920" y="1536192"/>
            <a:ext cx="2523744" cy="37490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217920" y="1536192"/>
            <a:ext cx="2523744" cy="585216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82512" y="17099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AI / Parsing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437376" y="2441448"/>
            <a:ext cx="201168" cy="20116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48272" y="2350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Gemini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437376" y="3054096"/>
            <a:ext cx="201168" cy="20116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748272" y="29626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Prompt orchestration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6437376" y="3666744"/>
            <a:ext cx="201168" cy="20116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748272" y="35753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pdfjs-dist / pdf-parse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6437376" y="4279392"/>
            <a:ext cx="201168" cy="20116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748272" y="41879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JSZip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9006840" y="1536192"/>
            <a:ext cx="2523744" cy="37490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006840" y="1536192"/>
            <a:ext cx="2523744" cy="585216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171432" y="17099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Engineering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9226296" y="2441448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537192" y="2350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Git / GitHub</a:t>
            </a:r>
            <a:endParaRPr lang="en-US" sz="1220" dirty="0"/>
          </a:p>
        </p:txBody>
      </p:sp>
      <p:sp>
        <p:nvSpPr>
          <p:cNvPr id="44" name="Shape 42"/>
          <p:cNvSpPr/>
          <p:nvPr/>
        </p:nvSpPr>
        <p:spPr>
          <a:xfrm>
            <a:off x="9226296" y="3054096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537192" y="29626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Environment variables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9226296" y="3666744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537192" y="35753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Retry + fallback logic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9226296" y="4279392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537192" y="41879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3A"/>
                </a:solidFill>
              </a:rPr>
              <a:t>Build &amp; test workflow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User Journey / Demo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simple demo path that shows the full product story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7C6FF0"/>
          </a:solidFill>
          <a:ln w="12700">
            <a:solidFill>
              <a:srgbClr val="7C6F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DEMO 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41248" y="1472184"/>
            <a:ext cx="420624" cy="420624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5544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E2B3A"/>
                </a:solidFill>
              </a:rPr>
              <a:t>Sign in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36576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Authenticated dashboard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1051560" y="1892808"/>
            <a:ext cx="0" cy="3474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41248" y="2221992"/>
            <a:ext cx="420624" cy="420624"/>
          </a:xfrm>
          <a:prstGeom prst="ellipse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1248" y="23042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1671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E2B3A"/>
                </a:solidFill>
              </a:rPr>
              <a:t>Upload notes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3657600" y="2167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Choose study material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51560" y="2642616"/>
            <a:ext cx="0" cy="3474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41248" y="2971800"/>
            <a:ext cx="420624" cy="420624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1248" y="30540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29169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E2B3A"/>
                </a:solidFill>
              </a:rPr>
              <a:t>Open workspace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3657600" y="2916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Review extracted content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1051560" y="3392424"/>
            <a:ext cx="0" cy="3474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41248" y="3721608"/>
            <a:ext cx="420624" cy="420624"/>
          </a:xfrm>
          <a:prstGeom prst="ellipse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1248" y="38039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36667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E2B3A"/>
                </a:solidFill>
              </a:rPr>
              <a:t>Generate outputs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3657600" y="3666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Summary + questions + quiz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1051560" y="4142232"/>
            <a:ext cx="0" cy="3474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41248" y="4471416"/>
            <a:ext cx="420624" cy="420624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1248" y="45537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08760" y="44165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E2B3A"/>
                </a:solidFill>
              </a:rPr>
              <a:t>Ask My Notes</a:t>
            </a:r>
            <a:endParaRPr lang="en-US" sz="1530" dirty="0"/>
          </a:p>
        </p:txBody>
      </p:sp>
      <p:sp>
        <p:nvSpPr>
          <p:cNvPr id="29" name="Text 27"/>
          <p:cNvSpPr/>
          <p:nvPr/>
        </p:nvSpPr>
        <p:spPr>
          <a:xfrm>
            <a:off x="3657600" y="4416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Contextual Q&amp;A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1051560" y="4892040"/>
            <a:ext cx="0" cy="3474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41248" y="5221224"/>
            <a:ext cx="420624" cy="420624"/>
          </a:xfrm>
          <a:prstGeom prst="ellipse">
            <a:avLst/>
          </a:prstGeom>
          <a:solidFill>
            <a:srgbClr val="16B5D1"/>
          </a:solidFill>
          <a:ln w="12700">
            <a:solidFill>
              <a:srgbClr val="16B5D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41248" y="53035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51663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E2B3A"/>
                </a:solidFill>
              </a:rPr>
              <a:t>Revision plan</a:t>
            </a:r>
            <a:endParaRPr lang="en-US" sz="1530" dirty="0"/>
          </a:p>
        </p:txBody>
      </p:sp>
      <p:sp>
        <p:nvSpPr>
          <p:cNvPr id="34" name="Text 32"/>
          <p:cNvSpPr/>
          <p:nvPr/>
        </p:nvSpPr>
        <p:spPr>
          <a:xfrm>
            <a:off x="3657600" y="5166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Convert learning into action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7909560" y="1572768"/>
            <a:ext cx="3346704" cy="4160520"/>
          </a:xfrm>
          <a:prstGeom prst="roundRect">
            <a:avLst>
              <a:gd name="adj" fmla="val 3279"/>
            </a:avLst>
          </a:prstGeom>
          <a:solidFill>
            <a:srgbClr val="EEF0FF"/>
          </a:solidFill>
          <a:ln w="12700">
            <a:solidFill>
              <a:srgbClr val="D9DB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47888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5CE2"/>
                </a:solidFill>
              </a:rPr>
              <a:t>Demo narrative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75320" y="2578608"/>
            <a:ext cx="26060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B3A"/>
                </a:solidFill>
              </a:rPr>
              <a:t>“Instead of switching between notes, a quiz app, a planner and a chatbot, StudyPilot connects them around the student’s own material.”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47888" y="4663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</a:rPr>
              <a:t>Best mentor demo: use one real subject PDF and complete this entire flow live.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Current Progress &amp; Validation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Core MVP is built; production-readiness work is still in progress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344168"/>
            <a:ext cx="10378440" cy="420624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38988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B3A"/>
                </a:solidFill>
              </a:rPr>
              <a:t>Authentication &amp; dashboard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8595360" y="1380744"/>
            <a:ext cx="1417320" cy="274320"/>
          </a:xfrm>
          <a:prstGeom prst="round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68512" y="144018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Implemented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914400" y="18836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B3A"/>
                </a:solidFill>
              </a:rPr>
              <a:t>Multi-format upload + extraction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8595360" y="1874520"/>
            <a:ext cx="1417320" cy="274320"/>
          </a:xfrm>
          <a:prstGeom prst="round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68512" y="193395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Implemented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13232" y="2331720"/>
            <a:ext cx="10378440" cy="420624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23774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B3A"/>
                </a:solidFill>
              </a:rPr>
              <a:t>Summary / key points / questions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8595360" y="2368296"/>
            <a:ext cx="1417320" cy="274320"/>
          </a:xfrm>
          <a:prstGeom prst="round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68512" y="24277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Implemented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14400" y="287121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B3A"/>
                </a:solidFill>
              </a:rPr>
              <a:t>MCQ quiz + Ask My Notes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8595360" y="2862072"/>
            <a:ext cx="1417320" cy="274320"/>
          </a:xfrm>
          <a:prstGeom prst="round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68512" y="2921508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Implemented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13232" y="3319272"/>
            <a:ext cx="10378440" cy="420624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336499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B3A"/>
                </a:solidFill>
              </a:rPr>
              <a:t>Revision plan + split view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8595360" y="3355848"/>
            <a:ext cx="1417320" cy="274320"/>
          </a:xfrm>
          <a:prstGeom prst="round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68512" y="3415284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Implemented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4400" y="385876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B3A"/>
                </a:solidFill>
              </a:rPr>
              <a:t>Retry/fallback + answer cache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8595360" y="3849624"/>
            <a:ext cx="1417320" cy="274320"/>
          </a:xfrm>
          <a:prstGeom prst="round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68512" y="390906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Implemented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13232" y="4306824"/>
            <a:ext cx="10378440" cy="420624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435254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B3A"/>
                </a:solidFill>
              </a:rPr>
              <a:t>RAG citations + stronger grounding</a:t>
            </a:r>
            <a:endParaRPr lang="en-US" sz="1270" dirty="0"/>
          </a:p>
        </p:txBody>
      </p:sp>
      <p:sp>
        <p:nvSpPr>
          <p:cNvPr id="29" name="Shape 27"/>
          <p:cNvSpPr/>
          <p:nvPr/>
        </p:nvSpPr>
        <p:spPr>
          <a:xfrm>
            <a:off x="8595360" y="4343400"/>
            <a:ext cx="1417320" cy="274320"/>
          </a:xfrm>
          <a:prstGeom prst="round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68512" y="440283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Next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14400" y="48463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B3A"/>
                </a:solidFill>
              </a:rPr>
              <a:t>Quota, delete/rename, folders/search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8595360" y="4837176"/>
            <a:ext cx="1417320" cy="274320"/>
          </a:xfrm>
          <a:prstGeom prst="round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68512" y="489661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Next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13232" y="5294376"/>
            <a:ext cx="10378440" cy="420624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14400" y="534009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B3A"/>
                </a:solidFill>
              </a:rPr>
              <a:t>Full production testing &amp; observability</a:t>
            </a:r>
            <a:endParaRPr lang="en-US" sz="1270" dirty="0"/>
          </a:p>
        </p:txBody>
      </p:sp>
      <p:sp>
        <p:nvSpPr>
          <p:cNvPr id="36" name="Shape 34"/>
          <p:cNvSpPr/>
          <p:nvPr/>
        </p:nvSpPr>
        <p:spPr>
          <a:xfrm>
            <a:off x="8595360" y="5330952"/>
            <a:ext cx="1417320" cy="274320"/>
          </a:xfrm>
          <a:prstGeom prst="round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668512" y="5390388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In progress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68680" y="5897880"/>
            <a:ext cx="10012680" cy="43891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143000" y="6025896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5B5CE2"/>
                </a:solidFill>
              </a:rPr>
              <a:t>Project position: strong hackathon MVP with a clear path from prototype → reliable student SaaS product.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Engineering Challenges &amp; Learnings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Key issues encountered while building the MVP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E65B65"/>
          </a:solidFill>
          <a:ln w="12700">
            <a:solidFill>
              <a:srgbClr val="E65B6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LEARNINGS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512064" cy="512064"/>
          </a:xfrm>
          <a:prstGeom prst="ellipse">
            <a:avLst/>
          </a:prstGeom>
          <a:solidFill>
            <a:srgbClr val="E65B65"/>
          </a:solidFill>
          <a:ln w="12700">
            <a:solidFill>
              <a:srgbClr val="E65B6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51790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3A"/>
                </a:solidFill>
              </a:rPr>
              <a:t>Model availability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11880" y="1371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LLM endpoints can return temporary high-demand or 503 responses.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315200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B3A"/>
                </a:solidFill>
              </a:rPr>
              <a:t>Added retry/backoff and fallback messaging.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13232" y="2377440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24505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3A"/>
                </a:solidFill>
              </a:rPr>
              <a:t>Document variability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11880" y="230428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Different formats expose text differently and can be noisy.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315200" y="23042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B3A"/>
                </a:solidFill>
              </a:rPr>
              <a:t>Separated extraction from generation and stored metadata.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13232" y="3310128"/>
            <a:ext cx="512064" cy="512064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" y="338328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3A"/>
                </a:solidFill>
              </a:rPr>
              <a:t>User data isolation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611880" y="32369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Study files are private and must never cross accounts.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315200" y="3236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B3A"/>
                </a:solidFill>
              </a:rPr>
              <a:t>Used authenticated access and per-user database rules.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13232" y="4242816"/>
            <a:ext cx="512064" cy="512064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431596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169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3A"/>
                </a:solidFill>
              </a:rPr>
              <a:t>Prompt consistency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611880" y="416966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Raw prompting can create uneven output quality.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15200" y="41696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B3A"/>
                </a:solidFill>
              </a:rPr>
              <a:t>Structured task-specific prompts and reusable generation paths.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13232" y="5175504"/>
            <a:ext cx="512064" cy="512064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524865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3A"/>
                </a:solidFill>
              </a:rPr>
              <a:t>Cost / repeated calls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611880" y="51023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Chat and regeneration can waste model calls.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7315200" y="51023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B3A"/>
                </a:solidFill>
              </a:rPr>
              <a:t>Added caching and planned quotas / usage controls.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3611880" y="6035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Challenge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6035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Engineering response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IBM Bob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Development-time debugger and reviewer — not part of the student-facing runtime AI pipeline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IBM BOB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481328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9105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1389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Use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1389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Debugging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4754880" y="138988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Reviewed errors, API behavior and integration issues to isolate root causes.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987552" y="1993392"/>
            <a:ext cx="0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1520" y="2432304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54203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Use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3408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Code Review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4754880" y="234086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Acted as a second reviewer for implementation changes before accepting fixes.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987552" y="2944368"/>
            <a:ext cx="0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383280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34930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Use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3291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Edge Cases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4754880" y="329184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Helped identify defects in auth, persistence, admin and production-readiness flows.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987552" y="3895344"/>
            <a:ext cx="0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31520" y="4334256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31520" y="444398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81328" y="42428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Use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Fix Validation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4754880" y="424281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Checked that fixes addressed the root cause without introducing unrelated changes.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987552" y="4846320"/>
            <a:ext cx="0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31520" y="5285232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1520" y="539496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81328" y="5193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Use 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97480" y="5193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Review Loop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4754880" y="519379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Build / Change → IBM Bob Review → Debug / Fix → Tests → Final Review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Expected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StudyPilot focuses on practical learning efficiency, not just AI novelty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IMPACT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0976" y="1792224"/>
            <a:ext cx="512064" cy="512064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50976" y="18653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18488" y="17830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Faster comprehension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18488" y="227685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Short summaries reduce time spent extracting the core idea from long notes.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172200" y="1572768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73368" y="1792224"/>
            <a:ext cx="512064" cy="512064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73368" y="18653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7830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Better recall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227685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Questions and quizzes encourage active retrieval instead of passive rereading.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49808" y="3730752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0976" y="3950208"/>
            <a:ext cx="512064" cy="512064"/>
          </a:xfrm>
          <a:prstGeom prst="ellipse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" y="40233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18488" y="3941064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More relevant help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18488" y="4434840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Ask My Notes keeps the assistant anchored to the student’s learning context.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72200" y="3730752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73368" y="3950208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73368" y="40233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941064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A"/>
                </a:solidFill>
              </a:rPr>
              <a:t>Lower revision stress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434840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A structured plan makes last-minute preparation more manageable.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A"/>
                </a:solidFill>
              </a:rPr>
              <a:t>Roadmap to Production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Prioritized next steps after the hackathon MVP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37360" cy="310896"/>
          </a:xfrm>
          <a:prstGeom prst="round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811512" y="5532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ROADMAP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481328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9105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1389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1389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Grounding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4754880" y="138988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RAG, chunking, citations, source-level traceability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987552" y="1993392"/>
            <a:ext cx="0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1520" y="2432304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54203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3408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Product UX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4754880" y="234086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Folders/subjects, search, rename/delete, chat history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987552" y="2944368"/>
            <a:ext cx="0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383280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34930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Phase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3291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Reliability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4754880" y="329184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Quotas, logging, failure monitoring, test coverage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987552" y="3895344"/>
            <a:ext cx="0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31520" y="4334256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31520" y="444398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81328" y="42428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Phase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Learning analytics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4754880" y="424281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Quiz attempts, revision progress, weak-topic insights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987552" y="4846320"/>
            <a:ext cx="0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31520" y="5285232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1520" y="539496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81328" y="5193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Phase 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97480" y="5193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E2B3A"/>
                </a:solidFill>
              </a:rPr>
              <a:t>Scale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4754880" y="519379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Admin analytics, billing-ready controls, optional voice workflows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1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828800" cy="1828800"/>
          </a:xfrm>
          <a:prstGeom prst="ellipse">
            <a:avLst/>
          </a:prstGeom>
          <a:solidFill>
            <a:srgbClr val="5B5CE2">
              <a:alpha val="65000"/>
            </a:srgbClr>
          </a:solidFill>
          <a:ln w="12700">
            <a:solidFill>
              <a:srgbClr val="5B5CE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0"/>
            <a:ext cx="2286000" cy="2286000"/>
          </a:xfrm>
          <a:prstGeom prst="ellipse">
            <a:avLst/>
          </a:prstGeom>
          <a:solidFill>
            <a:srgbClr val="16B5D1">
              <a:alpha val="55000"/>
            </a:srgbClr>
          </a:solidFill>
          <a:ln w="12700">
            <a:solidFill>
              <a:srgbClr val="16B5D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StudyPilot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54480" y="212140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D8E8"/>
                </a:solidFill>
              </a:rPr>
              <a:t>From scattered notes to a focused revision workflow.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337560" y="3063240"/>
            <a:ext cx="5532120" cy="960120"/>
          </a:xfrm>
          <a:prstGeom prst="roundRect">
            <a:avLst>
              <a:gd name="adj" fmla="val 11429"/>
            </a:avLst>
          </a:prstGeom>
          <a:solidFill>
            <a:srgbClr val="172238"/>
          </a:solidFill>
          <a:ln w="12700">
            <a:solidFill>
              <a:srgbClr val="2C3C5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0" y="33649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Built as a functional hackathon MVP with a clear production roadmap.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89120" y="4892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FE7F7"/>
                </a:solidFill>
              </a:rPr>
              <a:t>Thank You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023360" y="5532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Team Codex Ninja</a:t>
            </a:r>
          </a:p>
          <a:p>
            <a:r>
              <a:t>S. Sathvik Raj · Maneesh · Jayanth</a:t>
            </a:r>
          </a:p>
          <a:p>
            <a:r>
              <a:t>GITAM Hyderabad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Repository &amp; Hackathon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Public code, IBM Bob documentation, and submission-ready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10607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92807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GitHub Repository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https://github.com/sathvikmudhiraj/study-pilot-ai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852928"/>
            <a:ext cx="10607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08376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IBM Bob Usage Document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IBM_BOB_USAGE.md — project root; README should link to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968496"/>
            <a:ext cx="10607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23944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Problem + Solution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Included in this deck and in the submission-ready text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84064"/>
            <a:ext cx="10607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39512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PPT / Demo Link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Upload this PPT or a ≤3-minute demo video to a public Drive/YouTube/OneDrive link before form submission.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Final deck remains within the hackathon maximum of 20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GITAM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StudyPilot AI – Personalized AI Study &amp; Revision Assistant</dc:title>
  <dc:subject>StudyPilot AI Project Report</dc:subject>
  <dc:creator>S. Sathvik Raj</dc:creator>
  <cp:lastModifiedBy>S. Sathvik Raj</cp:lastModifiedBy>
  <cp:revision>1</cp:revision>
  <dcterms:created xsi:type="dcterms:W3CDTF">2026-08-21T19:17:58Z</dcterms:created>
  <dcterms:modified xsi:type="dcterms:W3CDTF">2026-08-21T19:17:58Z</dcterms:modified>
</cp:coreProperties>
</file>